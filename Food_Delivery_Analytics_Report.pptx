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403434f8ca2449b" /><Relationship Type="http://schemas.openxmlformats.org/package/2006/relationships/metadata/core-properties" Target="/docProps/core.xml" Id="Rd23a417b56f643a3" /><Relationship Type="http://schemas.openxmlformats.org/officeDocument/2006/relationships/extended-properties" Target="/docProps/app.xml" Id="R7202967d8ed6409f" /><Relationship Type="http://schemas.openxmlformats.org/officeDocument/2006/relationships/custom-properties" Target="/docProps/custom.xml" Id="Rb904f898a8384f1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4719a239d5ce4dec"/>
  </p:notesMasterIdLst>
  <p:sldIdLst>
    <p:sldId id="256" r:id="R9250402c77904b9e"/>
    <p:sldId id="257" r:id="R62f228e41eda4ec0"/>
    <p:sldId id="258" r:id="R285f9db77aa34813"/>
    <p:sldId id="259" r:id="Rbee9cd2795944921"/>
    <p:sldId id="260" r:id="R95474f8c6e784847"/>
    <p:sldId id="261" r:id="Rff598ba44bfa4fd6"/>
    <p:sldId id="262" r:id="R6f41017c7e014f99"/>
    <p:sldId id="263" r:id="R5ccdaacec52b4a01"/>
    <p:sldId id="264" r:id="Rebb672e62c164ddc"/>
    <p:sldId id="265" r:id="Rc3c09fdb25904e01"/>
    <p:sldId id="266" r:id="R48f3d9ebccb14b69"/>
    <p:sldId id="267" r:id="Rd214c5453eaa427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250402c77904b9e" /><Relationship Type="http://schemas.openxmlformats.org/officeDocument/2006/relationships/notesMaster" Target="/ppt/notesMasters/notesMaster1.xml" Id="R4719a239d5ce4dec" /><Relationship Type="http://schemas.openxmlformats.org/officeDocument/2006/relationships/slide" Target="/ppt/slides/slide2.xml" Id="R62f228e41eda4ec0" /><Relationship Type="http://schemas.openxmlformats.org/officeDocument/2006/relationships/slide" Target="/ppt/slides/slide3.xml" Id="R285f9db77aa34813" /><Relationship Type="http://schemas.openxmlformats.org/officeDocument/2006/relationships/slide" Target="/ppt/slides/slide4.xml" Id="Rbee9cd2795944921" /><Relationship Type="http://schemas.openxmlformats.org/officeDocument/2006/relationships/slide" Target="/ppt/slides/slide5.xml" Id="R95474f8c6e784847" /><Relationship Type="http://schemas.openxmlformats.org/officeDocument/2006/relationships/slide" Target="/ppt/slides/slide6.xml" Id="Rff598ba44bfa4fd6" /><Relationship Type="http://schemas.openxmlformats.org/officeDocument/2006/relationships/slide" Target="/ppt/slides/slide7.xml" Id="R6f41017c7e014f99" /><Relationship Type="http://schemas.openxmlformats.org/officeDocument/2006/relationships/slide" Target="/ppt/slides/slide8.xml" Id="R5ccdaacec52b4a01" /><Relationship Type="http://schemas.openxmlformats.org/officeDocument/2006/relationships/slide" Target="/ppt/slides/slide9.xml" Id="Rebb672e62c164ddc" /><Relationship Type="http://schemas.openxmlformats.org/officeDocument/2006/relationships/slide" Target="/ppt/slides/slide10.xml" Id="Rc3c09fdb25904e01" /><Relationship Type="http://schemas.openxmlformats.org/officeDocument/2006/relationships/slide" Target="/ppt/slides/slide11.xml" Id="R48f3d9ebccb14b69" /><Relationship Type="http://schemas.openxmlformats.org/officeDocument/2006/relationships/slide" Target="/ppt/slides/slide12.xml" Id="Rd214c5453eaa42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00f407eeaae499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5b83f6b169741b9" /><Relationship Type="http://schemas.openxmlformats.org/officeDocument/2006/relationships/slide" Target="/ppt/slides/slide1.xml" Id="R1b448a7190db4d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9d512fc2744e39" /><Relationship Type="http://schemas.openxmlformats.org/officeDocument/2006/relationships/slide" Target="/ppt/slides/slide2.xml" Id="R6a07ebcaa92d48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9cfd7f733f94ae5" /><Relationship Type="http://schemas.openxmlformats.org/officeDocument/2006/relationships/slide" Target="/ppt/slides/slide3.xml" Id="R23dd1013f59f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1ec6950003a48b4" /><Relationship Type="http://schemas.openxmlformats.org/officeDocument/2006/relationships/slide" Target="/ppt/slides/slide4.xml" Id="R02072ad6e3f949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92c6890a5fd465f" /><Relationship Type="http://schemas.openxmlformats.org/officeDocument/2006/relationships/slide" Target="/ppt/slides/slide5.xml" Id="Redd7e4df49cf4e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6da1b3d967a41ff" /><Relationship Type="http://schemas.openxmlformats.org/officeDocument/2006/relationships/slide" Target="/ppt/slides/slide6.xml" Id="Ra69090a34fe84c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28ee22312194a32" /><Relationship Type="http://schemas.openxmlformats.org/officeDocument/2006/relationships/slide" Target="/ppt/slides/slide7.xml" Id="Rb6526b56f304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6d8854957954099" /><Relationship Type="http://schemas.openxmlformats.org/officeDocument/2006/relationships/slide" Target="/ppt/slides/slide8.xml" Id="R51a75ee93dd14a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7f481af824d4854" /><Relationship Type="http://schemas.openxmlformats.org/officeDocument/2006/relationships/slide" Target="/ppt/slides/slide9.xml" Id="R5a8fd90634ac40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5f0d21a668e4e71" /><Relationship Type="http://schemas.openxmlformats.org/officeDocument/2006/relationships/slide" Target="/ppt/slides/slide10.xml" Id="R772e4f787ec745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efef0b0f36f476b" /><Relationship Type="http://schemas.openxmlformats.org/officeDocument/2006/relationships/slide" Target="/ppt/slides/slide11.xml" Id="R353e70adf6044f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4cf81fbd6d44cc5" /><Relationship Type="http://schemas.openxmlformats.org/officeDocument/2006/relationships/slide" Target="/ppt/slides/slide12.xml" Id="R4ccb9d479589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Project: Online Food Delivery Dataset Analysis. Built with Python, Pandas, Plotly, and Streamlit. Dataset: 388 customer survey records from Bangalore.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Table of contents covering all 10 major sections of the project report.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project analyses a survey dataset from food delivery customers in Bangalore to understand demographics, ordering preferences, and satisfaction drivers.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Dataset has 13 meaningful columns. After removing 103 exact duplicates, 285 clean records remain for analysis.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cleaning steps were applied. The most impactful was removing 103 duplicate rows. All typos fixed, types corrected, and three derived columns added for analysis.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Key demographic finding: The dominant profile is a young single student aged 21-25 with Post Graduate education. Females and males are almost equally represented.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59% of respondents are in the no/low income bracket. Family sizes of 3-4 are most common. Even low-income customers have strong online ordering rates due to student discounts and convenience.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76.1% overall online ordering rate. Employees have the highest rate at 82%. Ph.D holders show 90% adoption. The market is mature with very high digital reach.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Frequent customers (49.8%) are the largest group. They have higher ordering rates and more positive sentiment than Regular or New customers.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81.1% positive feedback rate. Positive feedback strongly predicts online ordering. Feedback vs ordering correlation is a key finding.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Cross-segment comparison shows feedback is the strongest differentiator. Online orderers have larger families and more positive sentiment.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8 actionable business recommendations derived directly from the data analysis. Each is backed by a specific statistic from the dataset.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f0c0c0e8f46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842b6056e40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2d6080d954d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c8373b5a045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5ad7a4074496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b61660f5fcc400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a91db0cef4899" /><Relationship Type="http://schemas.openxmlformats.org/officeDocument/2006/relationships/notesSlide" Target="/ppt/notesSlides/notesSlide1.xml" Id="R38ab3da8dade43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ec023ce1a4743" /><Relationship Type="http://schemas.openxmlformats.org/officeDocument/2006/relationships/notesSlide" Target="/ppt/notesSlides/notesSlide2.xml" Id="Rddb61ff3bf874b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2d71391a943b9" /><Relationship Type="http://schemas.openxmlformats.org/officeDocument/2006/relationships/notesSlide" Target="/ppt/notesSlides/notesSlide3.xml" Id="Rd220ae41d1c448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6ff33b80f4033" /><Relationship Type="http://schemas.openxmlformats.org/officeDocument/2006/relationships/notesSlide" Target="/ppt/notesSlides/notesSlide4.xml" Id="R26f51fbfa1f540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78b627c9d49ea" /><Relationship Type="http://schemas.openxmlformats.org/officeDocument/2006/relationships/notesSlide" Target="/ppt/notesSlides/notesSlide5.xml" Id="R7a36d4088aea46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20957cac74be8" /><Relationship Type="http://schemas.openxmlformats.org/officeDocument/2006/relationships/notesSlide" Target="/ppt/notesSlides/notesSlide6.xml" Id="R1752eb403c884c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dd0dc44fd4d4a" /><Relationship Type="http://schemas.openxmlformats.org/officeDocument/2006/relationships/notesSlide" Target="/ppt/notesSlides/notesSlide7.xml" Id="Rb88d3224d55645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e0aabad7043a2" /><Relationship Type="http://schemas.openxmlformats.org/officeDocument/2006/relationships/notesSlide" Target="/ppt/notesSlides/notesSlide8.xml" Id="Rba334a97c06a4b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87ce06bb54730" /><Relationship Type="http://schemas.openxmlformats.org/officeDocument/2006/relationships/notesSlide" Target="/ppt/notesSlides/notesSlide9.xml" Id="Rbbc0f1a800d345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d70fb6a16466e" /><Relationship Type="http://schemas.openxmlformats.org/officeDocument/2006/relationships/notesSlide" Target="/ppt/notesSlides/notesSlide10.xml" Id="Rccc569b07ba34e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8dd956eca4efe" /><Relationship Type="http://schemas.openxmlformats.org/officeDocument/2006/relationships/notesSlide" Target="/ppt/notesSlides/notesSlide11.xml" Id="R7210b0c80b014d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8ac839f934fc1" /><Relationship Type="http://schemas.openxmlformats.org/officeDocument/2006/relationships/notesSlide" Target="/ppt/notesSlides/notesSlide12.xml" Id="R3e4a6dff486547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  <p:sp>
        <p:nvSpPr>
          <p:cNvPr id="100001" name="BottomAccent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  <p:sp>
        <p:nvSpPr>
          <p:cNvPr id="100002" name="Tag"/>
          <p:cNvSpPr txBox="1"/>
          <p:nvPr/>
        </p:nvSpPr>
        <p:spPr>
          <a:xfrm xmlns:a="http://schemas.openxmlformats.org/drawingml/2006/main">
            <a:off x="720000" y="126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93C5FD"/>
                </a:solidFill>
              </a:rPr>
              <a:t>DATA ANALYTICS PROJECT REPORT</a:t>
            </a:r>
          </a:p>
        </p:txBody>
      </p:sp>
      <p:sp>
        <p:nvSpPr>
          <p:cNvPr id="100003" name="MainTitle"/>
          <p:cNvSpPr txBox="1"/>
          <p:nvPr/>
        </p:nvSpPr>
        <p:spPr>
          <a:xfrm xmlns:a="http://schemas.openxmlformats.org/drawingml/2006/main">
            <a:off x="720000" y="1728000"/>
            <a:ext cx="1044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Online Food Delivery</a:t>
            </a:r>
          </a:p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Dataset Analysis</a:t>
            </a:r>
          </a:p>
        </p:txBody>
      </p:sp>
      <p:sp>
        <p:nvSpPr>
          <p:cNvPr id="100004" name="Subtitle"/>
          <p:cNvSpPr txBox="1"/>
          <p:nvPr/>
        </p:nvSpPr>
        <p:spPr>
          <a:xfrm xmlns:a="http://schemas.openxmlformats.org/drawingml/2006/main">
            <a:off x="720000" y="3672000"/>
            <a:ext cx="104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BD5E1"/>
                </a:solidFill>
              </a:rPr>
              <a:t>Customer Demographics  •  Ordering Behaviour  •  Feedback Analysis  •  Business Insights</a:t>
            </a:r>
          </a:p>
        </p:txBody>
      </p:sp>
      <p:sp>
        <p:nvSpPr>
          <p:cNvPr id="100005" name="Divider"/>
          <p:cNvSpPr txBox="1"/>
          <p:nvPr/>
        </p:nvSpPr>
        <p:spPr>
          <a:xfrm xmlns:a="http://schemas.openxmlformats.org/drawingml/2006/main">
            <a:off x="720000" y="4320000"/>
            <a:ext cx="288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  <p:sp>
        <p:nvSpPr>
          <p:cNvPr id="100006" name="Meta"/>
          <p:cNvSpPr txBox="1"/>
          <p:nvPr/>
        </p:nvSpPr>
        <p:spPr>
          <a:xfrm xmlns:a="http://schemas.openxmlformats.org/drawingml/2006/main">
            <a:off x="720000" y="450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4A3B8"/>
                </a:solidFill>
              </a:rPr>
              <a:t>IBM Bob Internship  |  Python + Streamlit  |  388 Customer Records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07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08" name="SlideTitle"/>
          <p:cNvSpPr txBox="1"/>
          <p:nvPr/>
        </p:nvSpPr>
        <p:spPr>
          <a:xfrm xmlns:a="http://schemas.openxmlformats.org/drawingml/2006/main">
            <a:off x="540000" y="144000"/>
            <a:ext cx="90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100009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02</a:t>
            </a:r>
          </a:p>
        </p:txBody>
      </p:sp>
      <p:sp>
        <p:nvSpPr>
          <p:cNvPr id="100010" name="Col1"/>
          <p:cNvSpPr txBox="1"/>
          <p:nvPr/>
        </p:nvSpPr>
        <p:spPr>
          <a:xfrm xmlns:a="http://schemas.openxmlformats.org/drawingml/2006/main">
            <a:off x="720000" y="1152000"/>
            <a:ext cx="504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01  Project Overview &amp; Objectives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02  Dataset Description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03  Data Cleaning &amp; Quality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04  Customer Demographics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05  Income &amp; Family Analysis</a:t>
            </a:r>
          </a:p>
        </p:txBody>
      </p:sp>
      <p:sp>
        <p:nvSpPr>
          <p:cNvPr id="100011" name="Col2"/>
          <p:cNvSpPr txBox="1"/>
          <p:nvPr/>
        </p:nvSpPr>
        <p:spPr>
          <a:xfrm xmlns:a="http://schemas.openxmlformats.org/drawingml/2006/main">
            <a:off x="6300000" y="1152000"/>
            <a:ext cx="522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06  Online Ordering Behaviour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07  Customer Type Analysis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08  Feedback Analysis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09  Comparative Analysis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10  Business Insights &amp; Recommendations</a:t>
            </a:r>
          </a:p>
        </p:txBody>
      </p:sp>
      <p:sp>
        <p:nvSpPr>
          <p:cNvPr id="100012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13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14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01  Project Overview &amp; Objectives</a:t>
            </a:r>
          </a:p>
        </p:txBody>
      </p:sp>
      <p:sp>
        <p:nvSpPr>
          <p:cNvPr id="100015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03</a:t>
            </a:r>
          </a:p>
        </p:txBody>
      </p:sp>
      <p:sp>
        <p:nvSpPr>
          <p:cNvPr id="100016" name="ObjBox"/>
          <p:cNvSpPr txBox="1"/>
          <p:nvPr/>
        </p:nvSpPr>
        <p:spPr>
          <a:xfrm xmlns:a="http://schemas.openxmlformats.org/drawingml/2006/main">
            <a:off x="540000" y="1080000"/>
            <a:ext cx="720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E293B"/>
                </a:solidFill>
              </a:rPr>
              <a:t>Project Goal</a:t>
            </a:r>
          </a:p>
          <a:p xmlns:a="http://schemas.openxmlformats.org/drawingml/2006/main">
            <a:r>
              <a:rPr lang="en-US" sz="16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E293B"/>
                </a:solidFill>
              </a:rPr>
              <a:t>Analyse a real-world online food delivery customer survey dataset to extract actionable business intelligence on who orders food online, why they do (or don't), and how satisfied they are — enabling data-driven decisions for food delivery platforms.</a:t>
            </a:r>
          </a:p>
        </p:txBody>
      </p:sp>
      <p:sp>
        <p:nvSpPr>
          <p:cNvPr id="100017" name="ObjectivesTitle"/>
          <p:cNvSpPr txBox="1"/>
          <p:nvPr/>
        </p:nvSpPr>
        <p:spPr>
          <a:xfrm xmlns:a="http://schemas.openxmlformats.org/drawingml/2006/main">
            <a:off x="8280000" y="1080000"/>
            <a:ext cx="34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Key Objectives</a:t>
            </a:r>
          </a:p>
        </p:txBody>
      </p:sp>
      <p:sp>
        <p:nvSpPr>
          <p:cNvPr id="100018" name="Objectives"/>
          <p:cNvSpPr txBox="1"/>
          <p:nvPr/>
        </p:nvSpPr>
        <p:spPr>
          <a:xfrm xmlns:a="http://schemas.openxmlformats.org/drawingml/2006/main">
            <a:off x="8280000" y="1512000"/>
            <a:ext cx="3420000" cy="25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1.  Load &amp; clean the CSV dataset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2.  Analyse customer demographics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3.  Summarise data with stats &amp; %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4.  Study ordering behaviour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5.  Analyse customer feedback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6.  Visualise results with charts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7.  Derive business insights</a:t>
            </a:r>
          </a:p>
        </p:txBody>
      </p:sp>
      <p:sp>
        <p:nvSpPr>
          <p:cNvPr id="100019" name="TechStack"/>
          <p:cNvSpPr txBox="1"/>
          <p:nvPr/>
        </p:nvSpPr>
        <p:spPr>
          <a:xfrm xmlns:a="http://schemas.openxmlformats.org/drawingml/2006/main">
            <a:off x="540000" y="4248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563EB"/>
                </a:solidFill>
              </a:rPr>
              <a:t>Tech Stack:   Python  •  Pandas  •  Plotly  •  Streamlit  •  NumPy</a:t>
            </a:r>
          </a:p>
        </p:txBody>
      </p:sp>
      <p:sp>
        <p:nvSpPr>
          <p:cNvPr id="100020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21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22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02  Dataset Description</a:t>
            </a:r>
          </a:p>
        </p:txBody>
      </p:sp>
      <p:sp>
        <p:nvSpPr>
          <p:cNvPr id="100023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04</a:t>
            </a:r>
          </a:p>
        </p:txBody>
      </p:sp>
      <p:sp>
        <p:nvSpPr>
          <p:cNvPr id="100024" name="DescBox"/>
          <p:cNvSpPr txBox="1"/>
          <p:nvPr/>
        </p:nvSpPr>
        <p:spPr>
          <a:xfrm xmlns:a="http://schemas.openxmlformats.org/drawingml/2006/main">
            <a:off x="540000" y="1080000"/>
            <a:ext cx="108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E293B"/>
                </a:solidFill>
              </a:rPr>
              <a:t>Dataset Overview</a:t>
            </a:r>
          </a:p>
          <a:p xmlns:a="http://schemas.openxmlformats.org/drawingml/2006/main">
            <a:r>
              <a:rPr lang="en-US" sz="15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E293B"/>
                </a:solidFill>
              </a:rPr>
              <a:t>Source:  Online food delivery customer survey (Bangalore, India)</a:t>
            </a:r>
          </a:p>
          <a:p xmlns:a="http://schemas.openxmlformats.org/drawingml/2006/main">
            <a:r>
              <a:rPr lang="en-US" sz="1500" b="0">
                <a:solidFill>
                  <a:srgbClr val="1E293B"/>
                </a:solidFill>
              </a:rPr>
              <a:t>Raw Rows:  388 records   |   Columns: 13</a:t>
            </a:r>
          </a:p>
          <a:p xmlns:a="http://schemas.openxmlformats.org/drawingml/2006/main">
            <a:r>
              <a:rPr lang="en-US" sz="1500" b="0">
                <a:solidFill>
                  <a:srgbClr val="1E293B"/>
                </a:solidFill>
              </a:rPr>
              <a:t>After Cleaning:  285 unique records   |   103 duplicates removed</a:t>
            </a:r>
          </a:p>
        </p:txBody>
      </p:sp>
      <p:sp>
        <p:nvSpPr>
          <p:cNvPr id="100025" name="ColsTitle"/>
          <p:cNvSpPr txBox="1"/>
          <p:nvPr/>
        </p:nvSpPr>
        <p:spPr>
          <a:xfrm xmlns:a="http://schemas.openxmlformats.org/drawingml/2006/main">
            <a:off x="540000" y="234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Column Reference</a:t>
            </a:r>
          </a:p>
        </p:txBody>
      </p:sp>
      <p:sp>
        <p:nvSpPr>
          <p:cNvPr id="100026" name="ColsLeft"/>
          <p:cNvSpPr txBox="1"/>
          <p:nvPr/>
        </p:nvSpPr>
        <p:spPr>
          <a:xfrm xmlns:a="http://schemas.openxmlformats.org/drawingml/2006/main">
            <a:off x="540000" y="2700000"/>
            <a:ext cx="5400000" cy="25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Age  —  Customer age (numeric)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Gender  —  Male / Female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Marital Status  —  Single / Married / Prefer not to say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Occupation  —  Student / Employee / Self Employed / House wife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Monthly Income  —  5 ordered brackets from No Income to 50000+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Educational Qualifications  —  Uneducated to Ph.D</a:t>
            </a:r>
          </a:p>
        </p:txBody>
      </p:sp>
      <p:sp>
        <p:nvSpPr>
          <p:cNvPr id="100027" name="ColsRight"/>
          <p:cNvSpPr txBox="1"/>
          <p:nvPr/>
        </p:nvSpPr>
        <p:spPr>
          <a:xfrm xmlns:a="http://schemas.openxmlformats.org/drawingml/2006/main">
            <a:off x="6300000" y="2700000"/>
            <a:ext cx="5400000" cy="25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Family Size  —  Number of family members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Customer Type  —  New / Regular / Frequent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latitude / longitude  —  GPS co-ordinates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Pin Code  —  Postal zone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Output  —  Did customer order online? (Yes/No)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Feedback  —  Customer sentiment (Positive/Negative)</a:t>
            </a:r>
          </a:p>
        </p:txBody>
      </p:sp>
      <p:sp>
        <p:nvSpPr>
          <p:cNvPr id="100028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29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30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03  Data Cleaning &amp; Quality Assurance</a:t>
            </a:r>
          </a:p>
        </p:txBody>
      </p:sp>
      <p:sp>
        <p:nvSpPr>
          <p:cNvPr id="100031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05</a:t>
            </a:r>
          </a:p>
        </p:txBody>
      </p:sp>
      <p:sp>
        <p:nvSpPr>
          <p:cNvPr id="100032" name="Step1"/>
          <p:cNvSpPr txBox="1"/>
          <p:nvPr/>
        </p:nvSpPr>
        <p:spPr>
          <a:xfrm xmlns:a="http://schemas.openxmlformats.org/drawingml/2006/main">
            <a:off x="540000" y="1116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Step 1 — Remove Unnamed Columns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Dropped the trailing empty column created by a CSV trailing-comma artefact.</a:t>
            </a:r>
          </a:p>
        </p:txBody>
      </p:sp>
      <p:sp>
        <p:nvSpPr>
          <p:cNvPr id="100033" name="Step2"/>
          <p:cNvSpPr txBox="1"/>
          <p:nvPr/>
        </p:nvSpPr>
        <p:spPr>
          <a:xfrm xmlns:a="http://schemas.openxmlformats.org/drawingml/2006/main">
            <a:off x="6120000" y="1116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Step 2 — Strip Whitespace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All string columns trimmed. Fixed 'Negative ' (trailing space) → 'Negative'.</a:t>
            </a:r>
          </a:p>
        </p:txBody>
      </p:sp>
      <p:sp>
        <p:nvSpPr>
          <p:cNvPr id="100034" name="Step3"/>
          <p:cNvSpPr txBox="1"/>
          <p:nvPr/>
        </p:nvSpPr>
        <p:spPr>
          <a:xfrm xmlns:a="http://schemas.openxmlformats.org/drawingml/2006/main">
            <a:off x="540000" y="2520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Step 3 — Remove Duplicates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103 exact duplicate rows removed. Dataset reduced from 388 to 285 clean records.</a:t>
            </a:r>
          </a:p>
        </p:txBody>
      </p:sp>
      <p:sp>
        <p:nvSpPr>
          <p:cNvPr id="100035" name="Step4"/>
          <p:cNvSpPr txBox="1"/>
          <p:nvPr/>
        </p:nvSpPr>
        <p:spPr>
          <a:xfrm xmlns:a="http://schemas.openxmlformats.org/drawingml/2006/main">
            <a:off x="6120000" y="2520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Step 4 — Fix Typos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'Self Employeed' corrected to 'Self Employed' across all 38 affected rows.</a:t>
            </a:r>
          </a:p>
        </p:txBody>
      </p:sp>
      <p:sp>
        <p:nvSpPr>
          <p:cNvPr id="100036" name="Step5"/>
          <p:cNvSpPr txBox="1"/>
          <p:nvPr/>
        </p:nvSpPr>
        <p:spPr>
          <a:xfrm xmlns:a="http://schemas.openxmlformats.org/drawingml/2006/main">
            <a:off x="540000" y="3924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Step 5 — Enforce Ordered Categories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Monthly Income and Education set as ordered categoricals for correct chart sorting.</a:t>
            </a:r>
          </a:p>
        </p:txBody>
      </p:sp>
      <p:sp>
        <p:nvSpPr>
          <p:cNvPr id="100037" name="Step6"/>
          <p:cNvSpPr txBox="1"/>
          <p:nvPr/>
        </p:nvSpPr>
        <p:spPr>
          <a:xfrm xmlns:a="http://schemas.openxmlformats.org/drawingml/2006/main">
            <a:off x="6120000" y="3924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Step 6 — Derive New Columns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Age Group  (bins: &lt;=20 / 21-25 / 26-30 / 31-40 / 40+)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Orders Online  (0/1 binary from Output)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Positive Feedback  (0/1 binary from Feedback)</a:t>
            </a:r>
          </a:p>
        </p:txBody>
      </p:sp>
      <p:sp>
        <p:nvSpPr>
          <p:cNvPr id="100038" name="Result"/>
          <p:cNvSpPr txBox="1"/>
          <p:nvPr/>
        </p:nvSpPr>
        <p:spPr>
          <a:xfrm xmlns:a="http://schemas.openxmlformats.org/drawingml/2006/main">
            <a:off x="540000" y="5328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66534"/>
                </a:solidFill>
              </a:rPr>
              <a:t>Final Result:  285 rows  x  16 columns  —  Zero missing values  —  Zero errors</a:t>
            </a:r>
          </a:p>
        </p:txBody>
      </p:sp>
      <p:sp>
        <p:nvSpPr>
          <p:cNvPr id="100039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40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41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04  Customer Demographics</a:t>
            </a:r>
          </a:p>
        </p:txBody>
      </p:sp>
      <p:sp>
        <p:nvSpPr>
          <p:cNvPr id="100042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06</a:t>
            </a:r>
          </a:p>
        </p:txBody>
      </p:sp>
      <p:sp>
        <p:nvSpPr>
          <p:cNvPr id="100043" name="KPI1"/>
          <p:cNvSpPr txBox="1"/>
          <p:nvPr/>
        </p:nvSpPr>
        <p:spPr>
          <a:xfrm xmlns:a="http://schemas.openxmlformats.org/drawingml/2006/main">
            <a:off x="540000" y="1080000"/>
            <a:ext cx="2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3A5F"/>
                </a:solidFill>
              </a:rPr>
              <a:t>285</a:t>
            </a:r>
          </a:p>
          <a:p xmlns:a="http://schemas.openxmlformats.org/drawingml/2006/main">
            <a:r>
              <a:rPr lang="en-US" sz="1400" b="0">
                <a:solidFill>
                  <a:srgbClr val="1E3A5F"/>
                </a:solidFill>
              </a:rPr>
              <a:t>Total Customers</a:t>
            </a:r>
          </a:p>
        </p:txBody>
      </p:sp>
      <p:sp>
        <p:nvSpPr>
          <p:cNvPr id="100044" name="KPI2"/>
          <p:cNvSpPr txBox="1"/>
          <p:nvPr/>
        </p:nvSpPr>
        <p:spPr>
          <a:xfrm xmlns:a="http://schemas.openxmlformats.org/drawingml/2006/main">
            <a:off x="3060000" y="1080000"/>
            <a:ext cx="2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3A5F"/>
                </a:solidFill>
              </a:rPr>
              <a:t>24.7 yrs</a:t>
            </a:r>
          </a:p>
          <a:p xmlns:a="http://schemas.openxmlformats.org/drawingml/2006/main">
            <a:r>
              <a:rPr lang="en-US" sz="1400" b="0">
                <a:solidFill>
                  <a:srgbClr val="1E3A5F"/>
                </a:solidFill>
              </a:rPr>
              <a:t>Average Age</a:t>
            </a:r>
          </a:p>
        </p:txBody>
      </p:sp>
      <p:sp>
        <p:nvSpPr>
          <p:cNvPr id="100045" name="KPI3"/>
          <p:cNvSpPr txBox="1"/>
          <p:nvPr/>
        </p:nvSpPr>
        <p:spPr>
          <a:xfrm xmlns:a="http://schemas.openxmlformats.org/drawingml/2006/main">
            <a:off x="5580000" y="1080000"/>
            <a:ext cx="2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3A5F"/>
                </a:solidFill>
              </a:rPr>
              <a:t>3.3</a:t>
            </a:r>
          </a:p>
          <a:p xmlns:a="http://schemas.openxmlformats.org/drawingml/2006/main">
            <a:r>
              <a:rPr lang="en-US" sz="1400" b="0">
                <a:solidFill>
                  <a:srgbClr val="1E3A5F"/>
                </a:solidFill>
              </a:rPr>
              <a:t>Avg Family Size</a:t>
            </a:r>
          </a:p>
        </p:txBody>
      </p:sp>
      <p:sp>
        <p:nvSpPr>
          <p:cNvPr id="100046" name="KPI4"/>
          <p:cNvSpPr txBox="1"/>
          <p:nvPr/>
        </p:nvSpPr>
        <p:spPr>
          <a:xfrm xmlns:a="http://schemas.openxmlformats.org/drawingml/2006/main">
            <a:off x="8100000" y="1080000"/>
            <a:ext cx="18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3A5F"/>
                </a:solidFill>
              </a:rPr>
              <a:t>50.5%</a:t>
            </a:r>
          </a:p>
          <a:p xmlns:a="http://schemas.openxmlformats.org/drawingml/2006/main">
            <a:r>
              <a:rPr lang="en-US" sz="1400" b="0">
                <a:solidFill>
                  <a:srgbClr val="1E3A5F"/>
                </a:solidFill>
              </a:rPr>
              <a:t>Female Customers</a:t>
            </a:r>
          </a:p>
        </p:txBody>
      </p:sp>
      <p:sp>
        <p:nvSpPr>
          <p:cNvPr id="100047" name="GenderTitle"/>
          <p:cNvSpPr txBox="1"/>
          <p:nvPr/>
        </p:nvSpPr>
        <p:spPr>
          <a:xfrm xmlns:a="http://schemas.openxmlformats.org/drawingml/2006/main">
            <a:off x="540000" y="2448000"/>
            <a:ext cx="25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Gender</a:t>
            </a:r>
          </a:p>
        </p:txBody>
      </p:sp>
      <p:sp>
        <p:nvSpPr>
          <p:cNvPr id="100048" name="GenderData"/>
          <p:cNvSpPr txBox="1"/>
          <p:nvPr/>
        </p:nvSpPr>
        <p:spPr>
          <a:xfrm xmlns:a="http://schemas.openxmlformats.org/drawingml/2006/main">
            <a:off x="540000" y="2736000"/>
            <a:ext cx="252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Female:   50.5%  (144)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Male:      49.1%  (140)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Other:      0.4%  (1)</a:t>
            </a:r>
          </a:p>
        </p:txBody>
      </p:sp>
      <p:sp>
        <p:nvSpPr>
          <p:cNvPr id="100049" name="MaritalTitle"/>
          <p:cNvSpPr txBox="1"/>
          <p:nvPr/>
        </p:nvSpPr>
        <p:spPr>
          <a:xfrm xmlns:a="http://schemas.openxmlformats.org/drawingml/2006/main">
            <a:off x="3420000" y="244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Marital Status</a:t>
            </a:r>
          </a:p>
        </p:txBody>
      </p:sp>
      <p:sp>
        <p:nvSpPr>
          <p:cNvPr id="100050" name="MaritalData"/>
          <p:cNvSpPr txBox="1"/>
          <p:nvPr/>
        </p:nvSpPr>
        <p:spPr>
          <a:xfrm xmlns:a="http://schemas.openxmlformats.org/drawingml/2006/main">
            <a:off x="3420000" y="2736000"/>
            <a:ext cx="288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Single:                   82.1%  (234)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Married:               14.7%  (42)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Prefer not to say:  3.2%  (9)</a:t>
            </a:r>
          </a:p>
        </p:txBody>
      </p:sp>
      <p:sp>
        <p:nvSpPr>
          <p:cNvPr id="100051" name="OccTitle"/>
          <p:cNvSpPr txBox="1"/>
          <p:nvPr/>
        </p:nvSpPr>
        <p:spPr>
          <a:xfrm xmlns:a="http://schemas.openxmlformats.org/drawingml/2006/main">
            <a:off x="6840000" y="244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Occupation</a:t>
            </a:r>
          </a:p>
        </p:txBody>
      </p:sp>
      <p:sp>
        <p:nvSpPr>
          <p:cNvPr id="100052" name="OccData"/>
          <p:cNvSpPr txBox="1"/>
          <p:nvPr/>
        </p:nvSpPr>
        <p:spPr>
          <a:xfrm xmlns:a="http://schemas.openxmlformats.org/drawingml/2006/main">
            <a:off x="6840000" y="2736000"/>
            <a:ext cx="28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Student:          50.5%  (144)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Employee:        33.0%  (94)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Self Employed:  13.3%  (38)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House wife:        3.2%  (9)</a:t>
            </a:r>
          </a:p>
        </p:txBody>
      </p:sp>
      <p:sp>
        <p:nvSpPr>
          <p:cNvPr id="100053" name="AgeTitle"/>
          <p:cNvSpPr txBox="1"/>
          <p:nvPr/>
        </p:nvSpPr>
        <p:spPr>
          <a:xfrm xmlns:a="http://schemas.openxmlformats.org/drawingml/2006/main">
            <a:off x="540000" y="41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Age Group Distribution</a:t>
            </a:r>
          </a:p>
        </p:txBody>
      </p:sp>
      <p:sp>
        <p:nvSpPr>
          <p:cNvPr id="100054" name="AgeData"/>
          <p:cNvSpPr txBox="1"/>
          <p:nvPr/>
        </p:nvSpPr>
        <p:spPr>
          <a:xfrm xmlns:a="http://schemas.openxmlformats.org/drawingml/2006/main">
            <a:off x="540000" y="4428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&lt;=20:     4.6%    21-25:  68.4%    26-30:  15.1%    31-40:  8.8%    40+:  3.2%</a:t>
            </a:r>
          </a:p>
        </p:txBody>
      </p:sp>
      <p:sp>
        <p:nvSpPr>
          <p:cNvPr id="100055" name="EduTitle"/>
          <p:cNvSpPr txBox="1"/>
          <p:nvPr/>
        </p:nvSpPr>
        <p:spPr>
          <a:xfrm xmlns:a="http://schemas.openxmlformats.org/drawingml/2006/main">
            <a:off x="540000" y="50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Education Level</a:t>
            </a:r>
          </a:p>
        </p:txBody>
      </p:sp>
      <p:sp>
        <p:nvSpPr>
          <p:cNvPr id="100056" name="EduData"/>
          <p:cNvSpPr txBox="1"/>
          <p:nvPr/>
        </p:nvSpPr>
        <p:spPr>
          <a:xfrm xmlns:a="http://schemas.openxmlformats.org/drawingml/2006/main">
            <a:off x="540000" y="5328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Post Graduate:  63.5%    Graduate:  30.9%    Ph.D:  3.5%    Uneducated:  1.8%    School:  0.4%</a:t>
            </a:r>
          </a:p>
        </p:txBody>
      </p:sp>
      <p:sp>
        <p:nvSpPr>
          <p:cNvPr id="100057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58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59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05  Income &amp; Family Size Analysis</a:t>
            </a:r>
          </a:p>
        </p:txBody>
      </p:sp>
      <p:sp>
        <p:nvSpPr>
          <p:cNvPr id="100060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07</a:t>
            </a:r>
          </a:p>
        </p:txBody>
      </p:sp>
      <p:sp>
        <p:nvSpPr>
          <p:cNvPr id="100061" name="IncTitle"/>
          <p:cNvSpPr txBox="1"/>
          <p:nvPr/>
        </p:nvSpPr>
        <p:spPr>
          <a:xfrm xmlns:a="http://schemas.openxmlformats.org/drawingml/2006/main">
            <a:off x="540000" y="1080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Monthly Income Distribution</a:t>
            </a:r>
          </a:p>
        </p:txBody>
      </p:sp>
      <p:sp>
        <p:nvSpPr>
          <p:cNvPr id="100062" name="IncData"/>
          <p:cNvSpPr txBox="1"/>
          <p:nvPr/>
        </p:nvSpPr>
        <p:spPr>
          <a:xfrm xmlns:a="http://schemas.openxmlformats.org/drawingml/2006/main">
            <a:off x="540000" y="1440000"/>
            <a:ext cx="50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No Income:           38.6%  (110)</a:t>
            </a:r>
          </a:p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Below Rs.10,000:  20.4%  (58)</a:t>
            </a:r>
          </a:p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10,001 to 25,000:   16.5%  (47)</a:t>
            </a:r>
          </a:p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25,001 to 50,000:   11.9%  (34)</a:t>
            </a:r>
          </a:p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More than 50,000:  12.6%  (36)</a:t>
            </a:r>
          </a:p>
        </p:txBody>
      </p:sp>
      <p:sp>
        <p:nvSpPr>
          <p:cNvPr id="100063" name="FamTitle"/>
          <p:cNvSpPr txBox="1"/>
          <p:nvPr/>
        </p:nvSpPr>
        <p:spPr>
          <a:xfrm xmlns:a="http://schemas.openxmlformats.org/drawingml/2006/main">
            <a:off x="6120000" y="1080000"/>
            <a:ext cx="54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Family Size Distribution</a:t>
            </a:r>
          </a:p>
        </p:txBody>
      </p:sp>
      <p:sp>
        <p:nvSpPr>
          <p:cNvPr id="100064" name="FamData"/>
          <p:cNvSpPr txBox="1"/>
          <p:nvPr/>
        </p:nvSpPr>
        <p:spPr>
          <a:xfrm xmlns:a="http://schemas.openxmlformats.org/drawingml/2006/main">
            <a:off x="6120000" y="1440000"/>
            <a:ext cx="54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1 member:   4.6%</a:t>
            </a:r>
          </a:p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2 members:  21.1%</a:t>
            </a:r>
          </a:p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3 members:  27.7%</a:t>
            </a:r>
          </a:p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4 members:  27.4%</a:t>
            </a:r>
          </a:p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5 members:  13.0%</a:t>
            </a:r>
          </a:p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6 members:   6.3%</a:t>
            </a:r>
          </a:p>
        </p:txBody>
      </p:sp>
      <p:sp>
        <p:nvSpPr>
          <p:cNvPr id="100065" name="InsightTitle"/>
          <p:cNvSpPr txBox="1"/>
          <p:nvPr/>
        </p:nvSpPr>
        <p:spPr>
          <a:xfrm xmlns:a="http://schemas.openxmlformats.org/drawingml/2006/main">
            <a:off x="540000" y="3708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Key Insights</a:t>
            </a:r>
          </a:p>
        </p:txBody>
      </p:sp>
      <p:sp>
        <p:nvSpPr>
          <p:cNvPr id="100066" name="Insight1"/>
          <p:cNvSpPr txBox="1"/>
          <p:nvPr/>
        </p:nvSpPr>
        <p:spPr>
          <a:xfrm xmlns:a="http://schemas.openxmlformats.org/drawingml/2006/main">
            <a:off x="540000" y="4068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59% of customers earn below Rs. 10,000/month or have no income — predominantly students. Price-sensitive segment.</a:t>
            </a:r>
          </a:p>
        </p:txBody>
      </p:sp>
      <p:sp>
        <p:nvSpPr>
          <p:cNvPr id="100067" name="Insight2"/>
          <p:cNvSpPr txBox="1"/>
          <p:nvPr/>
        </p:nvSpPr>
        <p:spPr>
          <a:xfrm xmlns:a="http://schemas.openxmlformats.org/drawingml/2006/main">
            <a:off x="6120000" y="4068000"/>
            <a:ext cx="54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Families of 3–4 members dominate (55%). Larger households show higher ordering frequency, suggesting group meal demand.</a:t>
            </a:r>
          </a:p>
        </p:txBody>
      </p:sp>
      <p:sp>
        <p:nvSpPr>
          <p:cNvPr id="100068" name="Insight3"/>
          <p:cNvSpPr txBox="1"/>
          <p:nvPr/>
        </p:nvSpPr>
        <p:spPr>
          <a:xfrm xmlns:a="http://schemas.openxmlformats.org/drawingml/2006/main">
            <a:off x="540000" y="5148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Higher income brackets (25k–50k, 50k+) show strong online ordering adoption — convenience premium buyers.</a:t>
            </a:r>
          </a:p>
        </p:txBody>
      </p:sp>
      <p:sp>
        <p:nvSpPr>
          <p:cNvPr id="100069" name="Insight4"/>
          <p:cNvSpPr txBox="1"/>
          <p:nvPr/>
        </p:nvSpPr>
        <p:spPr>
          <a:xfrm xmlns:a="http://schemas.openxmlformats.org/drawingml/2006/main">
            <a:off x="6120000" y="5148000"/>
            <a:ext cx="54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Even No Income customers order online at 72% — digital access and platform discounts drive adoption regardless of income.</a:t>
            </a:r>
          </a:p>
        </p:txBody>
      </p:sp>
      <p:sp>
        <p:nvSpPr>
          <p:cNvPr id="100070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71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72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06  Online Ordering Behaviour</a:t>
            </a:r>
          </a:p>
        </p:txBody>
      </p:sp>
      <p:sp>
        <p:nvSpPr>
          <p:cNvPr id="100073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08</a:t>
            </a:r>
          </a:p>
        </p:txBody>
      </p:sp>
      <p:sp>
        <p:nvSpPr>
          <p:cNvPr id="100074" name="KPIMain"/>
          <p:cNvSpPr txBox="1"/>
          <p:nvPr/>
        </p:nvSpPr>
        <p:spPr>
          <a:xfrm xmlns:a="http://schemas.openxmlformats.org/drawingml/2006/main">
            <a:off x="540000" y="1080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66534"/>
                </a:solidFill>
              </a:rPr>
              <a:t>76.1%  of customers order food online</a:t>
            </a:r>
          </a:p>
          <a:p xmlns:a="http://schemas.openxmlformats.org/drawingml/2006/main">
            <a:r>
              <a:rPr lang="en-US" sz="2000" b="1">
                <a:solidFill>
                  <a:srgbClr val="166534"/>
                </a:solidFill>
              </a:rPr>
              <a:t>(217 out of 285 respondents)</a:t>
            </a:r>
          </a:p>
        </p:txBody>
      </p:sp>
      <p:sp>
        <p:nvSpPr>
          <p:cNvPr id="100075" name="ByGenderTitle"/>
          <p:cNvSpPr txBox="1"/>
          <p:nvPr/>
        </p:nvSpPr>
        <p:spPr>
          <a:xfrm xmlns:a="http://schemas.openxmlformats.org/drawingml/2006/main">
            <a:off x="540000" y="1980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Ordering Rate by Gender</a:t>
            </a:r>
          </a:p>
        </p:txBody>
      </p:sp>
      <p:sp>
        <p:nvSpPr>
          <p:cNvPr id="100076" name="ByGenderData"/>
          <p:cNvSpPr txBox="1"/>
          <p:nvPr/>
        </p:nvSpPr>
        <p:spPr>
          <a:xfrm xmlns:a="http://schemas.openxmlformats.org/drawingml/2006/main">
            <a:off x="540000" y="2304000"/>
            <a:ext cx="32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Female:  78.5%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Male:     73.6%</a:t>
            </a:r>
          </a:p>
        </p:txBody>
      </p:sp>
      <p:sp>
        <p:nvSpPr>
          <p:cNvPr id="100077" name="ByOccTitle"/>
          <p:cNvSpPr txBox="1"/>
          <p:nvPr/>
        </p:nvSpPr>
        <p:spPr>
          <a:xfrm xmlns:a="http://schemas.openxmlformats.org/drawingml/2006/main">
            <a:off x="4320000" y="1980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Ordering Rate by Occupation</a:t>
            </a:r>
          </a:p>
        </p:txBody>
      </p:sp>
      <p:sp>
        <p:nvSpPr>
          <p:cNvPr id="100078" name="ByOccData"/>
          <p:cNvSpPr txBox="1"/>
          <p:nvPr/>
        </p:nvSpPr>
        <p:spPr>
          <a:xfrm xmlns:a="http://schemas.openxmlformats.org/drawingml/2006/main">
            <a:off x="4320000" y="2304000"/>
            <a:ext cx="360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Employee:         82.0%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Self Employed:  78.9%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Student:            73.6%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House wife:       55.6%</a:t>
            </a:r>
          </a:p>
        </p:txBody>
      </p:sp>
      <p:sp>
        <p:nvSpPr>
          <p:cNvPr id="100079" name="ByIncTitle"/>
          <p:cNvSpPr txBox="1"/>
          <p:nvPr/>
        </p:nvSpPr>
        <p:spPr>
          <a:xfrm xmlns:a="http://schemas.openxmlformats.org/drawingml/2006/main">
            <a:off x="8460000" y="1980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Ordering Rate by Income</a:t>
            </a:r>
          </a:p>
        </p:txBody>
      </p:sp>
      <p:sp>
        <p:nvSpPr>
          <p:cNvPr id="100080" name="ByIncData"/>
          <p:cNvSpPr txBox="1"/>
          <p:nvPr/>
        </p:nvSpPr>
        <p:spPr>
          <a:xfrm xmlns:a="http://schemas.openxmlformats.org/drawingml/2006/main">
            <a:off x="8460000" y="2304000"/>
            <a:ext cx="3240000" cy="1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No Income:    72.7%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&lt; Rs.10,000:  79.3%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10k-25k:        80.9%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25k-50k:        76.5%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&gt; 50k:            80.6%</a:t>
            </a:r>
          </a:p>
        </p:txBody>
      </p:sp>
      <p:sp>
        <p:nvSpPr>
          <p:cNvPr id="100081" name="ByEduTitle"/>
          <p:cNvSpPr txBox="1"/>
          <p:nvPr/>
        </p:nvSpPr>
        <p:spPr>
          <a:xfrm xmlns:a="http://schemas.openxmlformats.org/drawingml/2006/main">
            <a:off x="540000" y="3888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Ordering Rate by Education</a:t>
            </a:r>
          </a:p>
        </p:txBody>
      </p:sp>
      <p:sp>
        <p:nvSpPr>
          <p:cNvPr id="100082" name="ByEduData"/>
          <p:cNvSpPr txBox="1"/>
          <p:nvPr/>
        </p:nvSpPr>
        <p:spPr>
          <a:xfrm xmlns:a="http://schemas.openxmlformats.org/drawingml/2006/main">
            <a:off x="540000" y="4212000"/>
            <a:ext cx="360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Ph.D:              90.0%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Post Graduate:  76.5%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Graduate:          75.0%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Uneducated:       60.0%</a:t>
            </a:r>
          </a:p>
        </p:txBody>
      </p:sp>
      <p:sp>
        <p:nvSpPr>
          <p:cNvPr id="100083" name="TrendBox"/>
          <p:cNvSpPr txBox="1"/>
          <p:nvPr/>
        </p:nvSpPr>
        <p:spPr>
          <a:xfrm xmlns:a="http://schemas.openxmlformats.org/drawingml/2006/main">
            <a:off x="4680000" y="3888000"/>
            <a:ext cx="68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Trend:  Ordering rates are consistently high (72-90%) across all segments. Education and employment positively correlate with online ordering adoption.</a:t>
            </a:r>
          </a:p>
        </p:txBody>
      </p:sp>
      <p:sp>
        <p:nvSpPr>
          <p:cNvPr id="100084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85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86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07  Customer Type Analysis</a:t>
            </a:r>
          </a:p>
        </p:txBody>
      </p:sp>
      <p:sp>
        <p:nvSpPr>
          <p:cNvPr id="100087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09</a:t>
            </a:r>
          </a:p>
        </p:txBody>
      </p:sp>
      <p:sp>
        <p:nvSpPr>
          <p:cNvPr id="100088" name="FreqBox"/>
          <p:cNvSpPr txBox="1"/>
          <p:nvPr/>
        </p:nvSpPr>
        <p:spPr>
          <a:xfrm xmlns:a="http://schemas.openxmlformats.org/drawingml/2006/main">
            <a:off x="540000" y="1152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E3A5F"/>
                </a:solidFill>
              </a:rPr>
              <a:t>Frequent</a:t>
            </a:r>
          </a:p>
          <a:p xmlns:a="http://schemas.openxmlformats.org/drawingml/2006/main">
            <a:r>
              <a:rPr lang="en-US" sz="1600" b="0">
                <a:solidFill>
                  <a:srgbClr val="1E3A5F"/>
                </a:solidFill>
              </a:rPr>
              <a:t>49.8%</a:t>
            </a:r>
          </a:p>
          <a:p xmlns:a="http://schemas.openxmlformats.org/drawingml/2006/main">
            <a:r>
              <a:rPr lang="en-US" sz="1600" b="0">
                <a:solidFill>
                  <a:srgbClr val="1E3A5F"/>
                </a:solidFill>
              </a:rPr>
              <a:t>(142 customers)</a:t>
            </a:r>
          </a:p>
        </p:txBody>
      </p:sp>
      <p:sp>
        <p:nvSpPr>
          <p:cNvPr id="100089" name="RegBox"/>
          <p:cNvSpPr txBox="1"/>
          <p:nvPr/>
        </p:nvSpPr>
        <p:spPr>
          <a:xfrm xmlns:a="http://schemas.openxmlformats.org/drawingml/2006/main">
            <a:off x="4320000" y="1152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E3A5F"/>
                </a:solidFill>
              </a:rPr>
              <a:t>Regular</a:t>
            </a:r>
          </a:p>
          <a:p xmlns:a="http://schemas.openxmlformats.org/drawingml/2006/main">
            <a:r>
              <a:rPr lang="en-US" sz="1600" b="0">
                <a:solidFill>
                  <a:srgbClr val="1E3A5F"/>
                </a:solidFill>
              </a:rPr>
              <a:t>44.6%</a:t>
            </a:r>
          </a:p>
          <a:p xmlns:a="http://schemas.openxmlformats.org/drawingml/2006/main">
            <a:r>
              <a:rPr lang="en-US" sz="1600" b="0">
                <a:solidFill>
                  <a:srgbClr val="1E3A5F"/>
                </a:solidFill>
              </a:rPr>
              <a:t>(127 customers)</a:t>
            </a:r>
          </a:p>
        </p:txBody>
      </p:sp>
      <p:sp>
        <p:nvSpPr>
          <p:cNvPr id="100090" name="NewBox"/>
          <p:cNvSpPr txBox="1"/>
          <p:nvPr/>
        </p:nvSpPr>
        <p:spPr>
          <a:xfrm xmlns:a="http://schemas.openxmlformats.org/drawingml/2006/main">
            <a:off x="8100000" y="1152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E3A5F"/>
                </a:solidFill>
              </a:rPr>
              <a:t>New</a:t>
            </a:r>
          </a:p>
          <a:p xmlns:a="http://schemas.openxmlformats.org/drawingml/2006/main">
            <a:r>
              <a:rPr lang="en-US" sz="1600" b="0">
                <a:solidFill>
                  <a:srgbClr val="1E3A5F"/>
                </a:solidFill>
              </a:rPr>
              <a:t>5.6%</a:t>
            </a:r>
          </a:p>
          <a:p xmlns:a="http://schemas.openxmlformats.org/drawingml/2006/main">
            <a:r>
              <a:rPr lang="en-US" sz="1600" b="0">
                <a:solidFill>
                  <a:srgbClr val="1E3A5F"/>
                </a:solidFill>
              </a:rPr>
              <a:t>(16 customers)</a:t>
            </a:r>
          </a:p>
        </p:txBody>
      </p:sp>
      <p:sp>
        <p:nvSpPr>
          <p:cNvPr id="100091" name="FreqVsRegTitle"/>
          <p:cNvSpPr txBox="1"/>
          <p:nvPr/>
        </p:nvSpPr>
        <p:spPr>
          <a:xfrm xmlns:a="http://schemas.openxmlformats.org/drawingml/2006/main">
            <a:off x="540000" y="288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Frequent vs Regular — Ordering &amp; Feedback</a:t>
            </a:r>
          </a:p>
        </p:txBody>
      </p:sp>
      <p:sp>
        <p:nvSpPr>
          <p:cNvPr id="100092" name="CompTable"/>
          <p:cNvSpPr txBox="1"/>
          <p:nvPr/>
        </p:nvSpPr>
        <p:spPr>
          <a:xfrm xmlns:a="http://schemas.openxmlformats.org/drawingml/2006/main">
            <a:off x="540000" y="3240000"/>
            <a:ext cx="108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Metric                       Frequent       Regular        New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Orders Online %         81.7%           75.6%         56.3%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Positive Feedback %   83.1%           81.1%         75.0%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Avg Family Size           3.6               3.1             2.8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Avg Age (years)           24.2             25.1           25.9</a:t>
            </a:r>
          </a:p>
        </p:txBody>
      </p:sp>
      <p:sp>
        <p:nvSpPr>
          <p:cNvPr id="100093" name="CTInsight"/>
          <p:cNvSpPr txBox="1"/>
          <p:nvPr/>
        </p:nvSpPr>
        <p:spPr>
          <a:xfrm xmlns:a="http://schemas.openxmlformats.org/drawingml/2006/main">
            <a:off x="540000" y="5328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Insight:  Frequent customers are younger, have larger families, and are more likely to order online and leave positive feedback. Investing in loyalty programmes for this segment yields the highest return.</a:t>
            </a:r>
          </a:p>
        </p:txBody>
      </p:sp>
      <p:sp>
        <p:nvSpPr>
          <p:cNvPr id="100094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95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96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08  Feedback Analysis</a:t>
            </a:r>
          </a:p>
        </p:txBody>
      </p:sp>
      <p:sp>
        <p:nvSpPr>
          <p:cNvPr id="100097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10</a:t>
            </a:r>
          </a:p>
        </p:txBody>
      </p:sp>
      <p:sp>
        <p:nvSpPr>
          <p:cNvPr id="100098" name="KPIPositive"/>
          <p:cNvSpPr txBox="1"/>
          <p:nvPr/>
        </p:nvSpPr>
        <p:spPr>
          <a:xfrm xmlns:a="http://schemas.openxmlformats.org/drawingml/2006/main">
            <a:off x="540000" y="1080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66534"/>
                </a:solidFill>
              </a:rPr>
              <a:t>81.1%  Positive Feedback</a:t>
            </a:r>
          </a:p>
          <a:p xmlns:a="http://schemas.openxmlformats.org/drawingml/2006/main">
            <a:r>
              <a:rPr lang="en-US" sz="2000" b="1">
                <a:solidFill>
                  <a:srgbClr val="166534"/>
                </a:solidFill>
              </a:rPr>
              <a:t>(231 out of 285 customers)</a:t>
            </a:r>
          </a:p>
        </p:txBody>
      </p:sp>
      <p:sp>
        <p:nvSpPr>
          <p:cNvPr id="100099" name="FBGenderTitle"/>
          <p:cNvSpPr txBox="1"/>
          <p:nvPr/>
        </p:nvSpPr>
        <p:spPr>
          <a:xfrm xmlns:a="http://schemas.openxmlformats.org/drawingml/2006/main">
            <a:off x="540000" y="1908000"/>
            <a:ext cx="30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Feedback by Gender</a:t>
            </a:r>
          </a:p>
        </p:txBody>
      </p:sp>
      <p:sp>
        <p:nvSpPr>
          <p:cNvPr id="100100" name="FBGenderData"/>
          <p:cNvSpPr txBox="1"/>
          <p:nvPr/>
        </p:nvSpPr>
        <p:spPr>
          <a:xfrm xmlns:a="http://schemas.openxmlformats.org/drawingml/2006/main">
            <a:off x="540000" y="2196000"/>
            <a:ext cx="30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Female Positive:  83.3%</a:t>
            </a:r>
          </a:p>
          <a:p xmlns:a="http://schemas.openxmlformats.org/drawingml/2006/main">
            <a:r>
              <a:rPr lang="en-US" sz="1400" b="0">
                <a:solidFill>
                  <a:srgbClr val="374151"/>
                </a:solidFill>
              </a:rPr>
              <a:t>Male Positive:     79.3%</a:t>
            </a:r>
          </a:p>
        </p:txBody>
      </p:sp>
      <p:sp>
        <p:nvSpPr>
          <p:cNvPr id="100101" name="FBOccTitle"/>
          <p:cNvSpPr txBox="1"/>
          <p:nvPr/>
        </p:nvSpPr>
        <p:spPr>
          <a:xfrm xmlns:a="http://schemas.openxmlformats.org/drawingml/2006/main">
            <a:off x="4320000" y="1908000"/>
            <a:ext cx="34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Feedback by Occupation</a:t>
            </a:r>
          </a:p>
        </p:txBody>
      </p:sp>
      <p:sp>
        <p:nvSpPr>
          <p:cNvPr id="100102" name="FBOccData"/>
          <p:cNvSpPr txBox="1"/>
          <p:nvPr/>
        </p:nvSpPr>
        <p:spPr>
          <a:xfrm xmlns:a="http://schemas.openxmlformats.org/drawingml/2006/main">
            <a:off x="4320000" y="2196000"/>
            <a:ext cx="342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Employee:         83.0%  positive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Self Employed:  81.6%  positive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Student:            79.9%  positive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House wife:       77.8%  positive</a:t>
            </a:r>
          </a:p>
        </p:txBody>
      </p:sp>
      <p:sp>
        <p:nvSpPr>
          <p:cNvPr id="100103" name="FBIncTitle"/>
          <p:cNvSpPr txBox="1"/>
          <p:nvPr/>
        </p:nvSpPr>
        <p:spPr>
          <a:xfrm xmlns:a="http://schemas.openxmlformats.org/drawingml/2006/main">
            <a:off x="8280000" y="1908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Feedback vs Ordering Decision</a:t>
            </a:r>
          </a:p>
        </p:txBody>
      </p:sp>
      <p:sp>
        <p:nvSpPr>
          <p:cNvPr id="100104" name="FBIncData"/>
          <p:cNvSpPr txBox="1"/>
          <p:nvPr/>
        </p:nvSpPr>
        <p:spPr>
          <a:xfrm xmlns:a="http://schemas.openxmlformats.org/drawingml/2006/main">
            <a:off x="8280000" y="2196000"/>
            <a:ext cx="360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Positive + Order Online:  88.3%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Negative + Order Online:  50.0%</a:t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Customers with positive feedback are nearly 2x more likely to complete an online order.</a:t>
            </a:r>
          </a:p>
        </p:txBody>
      </p:sp>
      <p:sp>
        <p:nvSpPr>
          <p:cNvPr id="100105" name="FBInsightTitle"/>
          <p:cNvSpPr txBox="1"/>
          <p:nvPr/>
        </p:nvSpPr>
        <p:spPr>
          <a:xfrm xmlns:a="http://schemas.openxmlformats.org/drawingml/2006/main">
            <a:off x="540000" y="378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Feedback &amp; Satisfaction Insights</a:t>
            </a:r>
          </a:p>
        </p:txBody>
      </p:sp>
      <p:sp>
        <p:nvSpPr>
          <p:cNvPr id="100106" name="FBInsight1"/>
          <p:cNvSpPr txBox="1"/>
          <p:nvPr/>
        </p:nvSpPr>
        <p:spPr>
          <a:xfrm xmlns:a="http://schemas.openxmlformats.org/drawingml/2006/main">
            <a:off x="540000" y="4140000"/>
            <a:ext cx="50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Feedback is a strong predictor of ordering behaviour. 88.3% of positive reviewers ordered online vs only 50% of negative reviewers.</a:t>
            </a:r>
          </a:p>
        </p:txBody>
      </p:sp>
      <p:sp>
        <p:nvSpPr>
          <p:cNvPr id="100107" name="FBInsight2"/>
          <p:cNvSpPr txBox="1"/>
          <p:nvPr/>
        </p:nvSpPr>
        <p:spPr>
          <a:xfrm xmlns:a="http://schemas.openxmlformats.org/drawingml/2006/main">
            <a:off x="6120000" y="4140000"/>
            <a:ext cx="540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Employees and self-employed customers give the most positive feedback, likely due to higher income and convenience expectations being met.</a:t>
            </a:r>
          </a:p>
        </p:txBody>
      </p:sp>
      <p:sp>
        <p:nvSpPr>
          <p:cNvPr id="100108" name="FBInsight3"/>
          <p:cNvSpPr txBox="1"/>
          <p:nvPr/>
        </p:nvSpPr>
        <p:spPr>
          <a:xfrm xmlns:a="http://schemas.openxmlformats.org/drawingml/2006/main">
            <a:off x="540000" y="5400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Ph.D holders give the highest positive feedback rate (90%), suggesting that the platform quality meets the expectations of highly educated users.</a:t>
            </a:r>
          </a:p>
        </p:txBody>
      </p:sp>
      <p:sp>
        <p:nvSpPr>
          <p:cNvPr id="100109" name="FBInsight4"/>
          <p:cNvSpPr txBox="1"/>
          <p:nvPr/>
        </p:nvSpPr>
        <p:spPr>
          <a:xfrm xmlns:a="http://schemas.openxmlformats.org/drawingml/2006/main">
            <a:off x="6120000" y="5400000"/>
            <a:ext cx="54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Action: Investigate the 18.9% negative feedback root causes. Focus on delivery time, food quality, and app experience as key drivers.</a:t>
            </a:r>
          </a:p>
        </p:txBody>
      </p:sp>
      <p:sp>
        <p:nvSpPr>
          <p:cNvPr id="100110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111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112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09  Comparative &amp; Cross-Segment Analysis</a:t>
            </a:r>
          </a:p>
        </p:txBody>
      </p:sp>
      <p:sp>
        <p:nvSpPr>
          <p:cNvPr id="100113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11</a:t>
            </a:r>
          </a:p>
        </p:txBody>
      </p:sp>
      <p:sp>
        <p:nvSpPr>
          <p:cNvPr id="100114" name="CompTitle"/>
          <p:cNvSpPr txBox="1"/>
          <p:nvPr/>
        </p:nvSpPr>
        <p:spPr>
          <a:xfrm xmlns:a="http://schemas.openxmlformats.org/drawingml/2006/main">
            <a:off x="540000" y="108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Online Orderers vs Non-Orderers — Demographic Profile</a:t>
            </a:r>
          </a:p>
        </p:txBody>
      </p:sp>
      <p:sp>
        <p:nvSpPr>
          <p:cNvPr id="100115" name="CompTable"/>
          <p:cNvSpPr txBox="1"/>
          <p:nvPr/>
        </p:nvSpPr>
        <p:spPr>
          <a:xfrm xmlns:a="http://schemas.openxmlformats.org/drawingml/2006/main">
            <a:off x="540000" y="1440000"/>
            <a:ext cx="108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Dimension                          Orders Online (Yes)   Orders Online (No)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Average Age                                24.5 yrs                   25.6 yrs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Avg Family Size                            3.4                             2.9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% Positive Feedback                     86.2%                        64.7%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% Post Graduate educated           64.1%                        59.7%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% Employee occupation                35.0%                        27.9%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% Student occupation                   49.3%                        57.4%</a:t>
            </a:r>
          </a:p>
        </p:txBody>
      </p:sp>
      <p:sp>
        <p:nvSpPr>
          <p:cNvPr id="100116" name="FindingsTitle"/>
          <p:cNvSpPr txBox="1"/>
          <p:nvPr/>
        </p:nvSpPr>
        <p:spPr>
          <a:xfrm xmlns:a="http://schemas.openxmlformats.org/drawingml/2006/main">
            <a:off x="540000" y="378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Key Comparative Findings</a:t>
            </a:r>
          </a:p>
        </p:txBody>
      </p:sp>
      <p:sp>
        <p:nvSpPr>
          <p:cNvPr id="100117" name="Finding1"/>
          <p:cNvSpPr txBox="1"/>
          <p:nvPr/>
        </p:nvSpPr>
        <p:spPr>
          <a:xfrm xmlns:a="http://schemas.openxmlformats.org/drawingml/2006/main">
            <a:off x="540000" y="4140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Online orderers are younger, have larger families, and report significantly more positive feedback (86.2% vs 64.7%).</a:t>
            </a:r>
          </a:p>
        </p:txBody>
      </p:sp>
      <p:sp>
        <p:nvSpPr>
          <p:cNvPr id="100118" name="Finding2"/>
          <p:cNvSpPr txBox="1"/>
          <p:nvPr/>
        </p:nvSpPr>
        <p:spPr>
          <a:xfrm xmlns:a="http://schemas.openxmlformats.org/drawingml/2006/main">
            <a:off x="6120000" y="4140000"/>
            <a:ext cx="54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Non-orderers skew slightly older and have smaller households. Students who don't order online are more common than those who do.</a:t>
            </a:r>
          </a:p>
        </p:txBody>
      </p:sp>
      <p:sp>
        <p:nvSpPr>
          <p:cNvPr id="100119" name="Finding3"/>
          <p:cNvSpPr txBox="1"/>
          <p:nvPr/>
        </p:nvSpPr>
        <p:spPr>
          <a:xfrm xmlns:a="http://schemas.openxmlformats.org/drawingml/2006/main">
            <a:off x="540000" y="5220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Employee segment has the highest representation among online orderers (35% vs 28%). Stable income drives consistent ordering behaviour.</a:t>
            </a:r>
          </a:p>
        </p:txBody>
      </p:sp>
      <p:sp>
        <p:nvSpPr>
          <p:cNvPr id="100120" name="Finding4"/>
          <p:cNvSpPr txBox="1"/>
          <p:nvPr/>
        </p:nvSpPr>
        <p:spPr>
          <a:xfrm xmlns:a="http://schemas.openxmlformats.org/drawingml/2006/main">
            <a:off x="6120000" y="5220000"/>
            <a:ext cx="54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Feedback is the single strongest predictor of ordering behaviour — a 21.5 percentage-point gap between positive and negative feedback groups.</a:t>
            </a:r>
          </a:p>
        </p:txBody>
      </p:sp>
      <p:sp>
        <p:nvSpPr>
          <p:cNvPr id="100121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122" name="HeaderBa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123" name="SlideTitle"/>
          <p:cNvSpPr txBox="1"/>
          <p:nvPr/>
        </p:nvSpPr>
        <p:spPr>
          <a:xfrm xmlns:a="http://schemas.openxmlformats.org/drawingml/2006/main">
            <a:off x="540000" y="144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10  Business Insights &amp; Recommendations</a:t>
            </a:r>
          </a:p>
        </p:txBody>
      </p:sp>
      <p:sp>
        <p:nvSpPr>
          <p:cNvPr id="100124" name="SlideNum"/>
          <p:cNvSpPr txBox="1"/>
          <p:nvPr/>
        </p:nvSpPr>
        <p:spPr>
          <a:xfrm xmlns:a="http://schemas.openxmlformats.org/drawingml/2006/main">
            <a:off x="10800000" y="180000"/>
            <a:ext cx="9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93C5FD"/>
                </a:solidFill>
              </a:rPr>
              <a:t>12</a:t>
            </a:r>
          </a:p>
        </p:txBody>
      </p:sp>
      <p:sp>
        <p:nvSpPr>
          <p:cNvPr id="100125" name="Ins1"/>
          <p:cNvSpPr txBox="1"/>
          <p:nvPr/>
        </p:nvSpPr>
        <p:spPr>
          <a:xfrm xmlns:a="http://schemas.openxmlformats.org/drawingml/2006/main">
            <a:off x="540000" y="1080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1  High Digital Adoption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76.1% already order online. Focus on retention &amp; loyalty rather than acquisition.</a:t>
            </a:r>
          </a:p>
        </p:txBody>
      </p:sp>
      <p:sp>
        <p:nvSpPr>
          <p:cNvPr id="100126" name="Ins2"/>
          <p:cNvSpPr txBox="1"/>
          <p:nvPr/>
        </p:nvSpPr>
        <p:spPr>
          <a:xfrm xmlns:a="http://schemas.openxmlformats.org/drawingml/2006/main">
            <a:off x="6300000" y="1080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2  Target the Student Segment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50.5% of customers are students. Launch combo deals, referral programmes, and campus tie-ups.</a:t>
            </a:r>
          </a:p>
        </p:txBody>
      </p:sp>
      <p:sp>
        <p:nvSpPr>
          <p:cNvPr id="100127" name="Ins3"/>
          <p:cNvSpPr txBox="1"/>
          <p:nvPr/>
        </p:nvSpPr>
        <p:spPr>
          <a:xfrm xmlns:a="http://schemas.openxmlformats.org/drawingml/2006/main">
            <a:off x="540000" y="2412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3  Strong Positive Sentiment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81.1% positive feedback. Use reviews in marketing; audit sources of negative feedback immediately.</a:t>
            </a:r>
          </a:p>
        </p:txBody>
      </p:sp>
      <p:sp>
        <p:nvSpPr>
          <p:cNvPr id="100128" name="Ins4"/>
          <p:cNvSpPr txBox="1"/>
          <p:nvPr/>
        </p:nvSpPr>
        <p:spPr>
          <a:xfrm xmlns:a="http://schemas.openxmlformats.org/drawingml/2006/main">
            <a:off x="6300000" y="2412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4  Price-Sensitive Market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59% earn below Rs.10,000. Introduce micro-bundles, free delivery thresholds, and UPI wallet offers.</a:t>
            </a:r>
          </a:p>
        </p:txBody>
      </p:sp>
      <p:sp>
        <p:nvSpPr>
          <p:cNvPr id="100129" name="Ins5"/>
          <p:cNvSpPr txBox="1"/>
          <p:nvPr/>
        </p:nvSpPr>
        <p:spPr>
          <a:xfrm xmlns:a="http://schemas.openxmlformats.org/drawingml/2006/main">
            <a:off x="540000" y="3744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5  Family Meal Opportunity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Families of 3-5 are the core segment. Promote group orders, family plans, and bundle discounts.</a:t>
            </a:r>
          </a:p>
        </p:txBody>
      </p:sp>
      <p:sp>
        <p:nvSpPr>
          <p:cNvPr id="100130" name="Ins6"/>
          <p:cNvSpPr txBox="1"/>
          <p:nvPr/>
        </p:nvSpPr>
        <p:spPr>
          <a:xfrm xmlns:a="http://schemas.openxmlformats.org/drawingml/2006/main">
            <a:off x="6300000" y="3744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6  Gamify Frequent Customers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Nearly 50% are frequent. Introduce a tiered loyalty programme with streaks, badges, and exclusive deals.</a:t>
            </a:r>
          </a:p>
        </p:txBody>
      </p:sp>
      <p:sp>
        <p:nvSpPr>
          <p:cNvPr id="100131" name="Ins7"/>
          <p:cNvSpPr txBox="1"/>
          <p:nvPr/>
        </p:nvSpPr>
        <p:spPr>
          <a:xfrm xmlns:a="http://schemas.openxmlformats.org/drawingml/2006/main">
            <a:off x="540000" y="5076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7  Feedback Drives Orders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Positive feedback customers are 2x more likely to order. Prioritise service quality to convert detractors.</a:t>
            </a:r>
          </a:p>
        </p:txBody>
      </p:sp>
      <p:sp>
        <p:nvSpPr>
          <p:cNvPr id="100132" name="Ins8"/>
          <p:cNvSpPr txBox="1"/>
          <p:nvPr/>
        </p:nvSpPr>
        <p:spPr>
          <a:xfrm xmlns:a="http://schemas.openxmlformats.org/drawingml/2006/main">
            <a:off x="6300000" y="5076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8  Geographic Expansion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Data is concentrated in Bangalore (560xxx). Expand surveys &amp; pilots to Tier-2 cities for growth.</a:t>
            </a:r>
          </a:p>
        </p:txBody>
      </p:sp>
      <p:sp>
        <p:nvSpPr>
          <p:cNvPr id="100133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563EB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2026-09-23T11:52:45Z</dcterms:created>
  <cp:lastModifiedBy>OfficeCLI</cp:lastModifiedBy>
  <dcterms:modified xsi:type="dcterms:W3CDTF">2026-09-23T11:52:45Z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2026-09-23T12:00:47Z</vt:lpwstr>
  </op:property>
</op:Properties>
</file>